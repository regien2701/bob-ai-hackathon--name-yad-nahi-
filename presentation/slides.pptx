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oboto" panose="02000000000000000000" pitchFamily="2" charset="0"/>
      <p:regular r:id="rId13"/>
    </p:embeddedFont>
    <p:embeddedFont>
      <p:font typeface="Roboto Bold" panose="020B0604020202020204" charset="0"/>
      <p:regular r:id="rId14"/>
    </p:embeddedFont>
    <p:embeddedFont>
      <p:font typeface="Saira Medium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610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403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ThreatIntel Correlator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58813"/>
            <a:ext cx="10868745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450" dirty="0">
                <a:solidFill>
                  <a:srgbClr val="00D9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AI-Powered Threat Intelligence</a:t>
            </a: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Correlation &amp; Alert Prioritisation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356682" y="313322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IBM BoB AI Innovation Hackathon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362515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2415" y="3871516"/>
            <a:ext cx="5470785" cy="2292350"/>
          </a:xfrm>
          <a:prstGeom prst="roundRect">
            <a:avLst>
              <a:gd name="adj" fmla="val 10389"/>
            </a:avLst>
          </a:prstGeom>
          <a:solidFill>
            <a:srgbClr val="00D9FF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07710" y="4036814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Team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7710" y="4460577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Name Yad nahi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7710" y="4874022"/>
            <a:ext cx="514019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Arya Raval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Rudra Tanti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Arav Patel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Salman Meman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403681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3904" y="4460577"/>
            <a:ext cx="52326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working prototype that ingests raw threat alerts, correlates related events into incidents, scores risk severity, detects false positives, maps to MITRE ATT&amp;CK, and delivers analyst-ready BLUF summaries — all through a unified dashboard.</a:t>
            </a:r>
            <a:endParaRPr lang="en-US" sz="13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E327E3-3DD3-88A1-AD7F-9E766E52F709}"/>
              </a:ext>
            </a:extLst>
          </p:cNvPr>
          <p:cNvSpPr/>
          <p:nvPr/>
        </p:nvSpPr>
        <p:spPr>
          <a:xfrm>
            <a:off x="11098412" y="6502400"/>
            <a:ext cx="1092200" cy="355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6227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Problem: Too Many Alerts, Too Little Context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37952"/>
            <a:ext cx="5283068" cy="9074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8994" y="1374676"/>
            <a:ext cx="495882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444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Alert Overload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48994" y="1661418"/>
            <a:ext cx="495882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teams receive </a:t>
            </a: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hundreds of alerts daily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from firewalls, EDR, SIEM, and threat feeds — far beyond what any analyst team can manually triage.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38375"/>
            <a:ext cx="5283068" cy="9074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8994" y="2375098"/>
            <a:ext cx="495882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99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False Positive Drain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48994" y="2661841"/>
            <a:ext cx="495882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False positives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consume analyst time and erode trust in alerting systems, causing teams to deprioritize even legitimate detections.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238798"/>
            <a:ext cx="5283068" cy="9074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8994" y="3375521"/>
            <a:ext cx="495882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99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Disconnected Events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848994" y="3662263"/>
            <a:ext cx="495882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Related alerts appear as </a:t>
            </a: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isolated, disconnected events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different tools and consoles, making it nearly impossible to see the full scope of an attack.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239220"/>
            <a:ext cx="5283068" cy="90745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8994" y="4375944"/>
            <a:ext cx="495882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4444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Critical Threats Buried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848994" y="4662686"/>
            <a:ext cx="495882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High-severity incidents can be </a:t>
            </a: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buried beneath lower-priority noise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causing delayed response at the most critical moments.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239643"/>
            <a:ext cx="5283068" cy="90745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48994" y="5376366"/>
            <a:ext cx="495882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488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Lack of Rapid Context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848994" y="5663109"/>
            <a:ext cx="495882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Analysts need </a:t>
            </a: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faster contextual intelligence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decide what requires immediate action versus what can wait — without manual cross-referencing.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6253502" y="1237952"/>
            <a:ext cx="5283068" cy="576461"/>
          </a:xfrm>
          <a:prstGeom prst="roundRect">
            <a:avLst>
              <a:gd name="adj" fmla="val 19366"/>
            </a:avLst>
          </a:prstGeom>
          <a:solidFill>
            <a:srgbClr val="450707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522" y="1380331"/>
            <a:ext cx="154976" cy="12402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656519" y="1352550"/>
            <a:ext cx="475603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Result:</a:t>
            </a: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Alert fatigue, delayed incident response, and missed threats — the three most dangerous outcomes in any security operation.</a:t>
            </a:r>
            <a:endParaRPr lang="en-US" sz="950" dirty="0"/>
          </a:p>
        </p:txBody>
      </p:sp>
      <p:sp>
        <p:nvSpPr>
          <p:cNvPr id="21" name="Text 13"/>
          <p:cNvSpPr/>
          <p:nvPr/>
        </p:nvSpPr>
        <p:spPr>
          <a:xfrm>
            <a:off x="6913886" y="1981002"/>
            <a:ext cx="3962301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100s</a:t>
            </a:r>
            <a:endParaRPr lang="en-US" sz="3200" dirty="0"/>
          </a:p>
        </p:txBody>
      </p:sp>
      <p:sp>
        <p:nvSpPr>
          <p:cNvPr id="22" name="Text 14"/>
          <p:cNvSpPr/>
          <p:nvPr/>
        </p:nvSpPr>
        <p:spPr>
          <a:xfrm>
            <a:off x="6253502" y="2522141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Alerts Per Day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6253502" y="2808883"/>
            <a:ext cx="528306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Typical SOC volume across multi-source feeds</a:t>
            </a:r>
            <a:endParaRPr lang="en-US" sz="950" dirty="0"/>
          </a:p>
        </p:txBody>
      </p:sp>
      <p:sp>
        <p:nvSpPr>
          <p:cNvPr id="24" name="Text 16"/>
          <p:cNvSpPr/>
          <p:nvPr/>
        </p:nvSpPr>
        <p:spPr>
          <a:xfrm>
            <a:off x="6913886" y="3230563"/>
            <a:ext cx="3962301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~80%</a:t>
            </a:r>
            <a:endParaRPr lang="en-US" sz="3200" dirty="0"/>
          </a:p>
        </p:txBody>
      </p:sp>
      <p:sp>
        <p:nvSpPr>
          <p:cNvPr id="25" name="Text 17"/>
          <p:cNvSpPr/>
          <p:nvPr/>
        </p:nvSpPr>
        <p:spPr>
          <a:xfrm>
            <a:off x="6253502" y="3771702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False Positive Rate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253502" y="4058444"/>
            <a:ext cx="528306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Industry-reported noise in raw alert streams</a:t>
            </a:r>
            <a:endParaRPr lang="en-US" sz="9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CB9467-275B-D48A-96A4-7EBA3FBFC3F2}"/>
              </a:ext>
            </a:extLst>
          </p:cNvPr>
          <p:cNvSpPr/>
          <p:nvPr/>
        </p:nvSpPr>
        <p:spPr>
          <a:xfrm>
            <a:off x="11098412" y="6502400"/>
            <a:ext cx="1092200" cy="355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4542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From Alert Overload to Actionable Intelligence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038225"/>
            <a:ext cx="1147833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ThreatIntel Correlator transforms raw threat data into prioritized, correlated incidents with actionable intelligence through an eight-stage pipeline.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678" y="1316434"/>
            <a:ext cx="8084340" cy="34862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97661" y="4141560"/>
            <a:ext cx="183406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Prioritize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597661" y="3334550"/>
            <a:ext cx="183406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Correlate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97661" y="2535691"/>
            <a:ext cx="183406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97661" y="1728681"/>
            <a:ext cx="183406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Ingest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1475" y="4907260"/>
            <a:ext cx="2647388" cy="696615"/>
          </a:xfrm>
          <a:prstGeom prst="roundRect">
            <a:avLst>
              <a:gd name="adj" fmla="val 16026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8195" y="5043984"/>
            <a:ext cx="237394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01 Ingest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8195" y="5293519"/>
            <a:ext cx="237394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Feeds, CSV, JSON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401828" y="4907260"/>
            <a:ext cx="2647487" cy="696615"/>
          </a:xfrm>
          <a:prstGeom prst="roundRect">
            <a:avLst>
              <a:gd name="adj" fmla="val 16026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38548" y="5043984"/>
            <a:ext cx="237404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02 Normalize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38548" y="5293519"/>
            <a:ext cx="237404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Standardize fields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42281" y="4907260"/>
            <a:ext cx="2647487" cy="696615"/>
          </a:xfrm>
          <a:prstGeom prst="roundRect">
            <a:avLst>
              <a:gd name="adj" fmla="val 16026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79001" y="5043984"/>
            <a:ext cx="237404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03 Correlate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79001" y="5293519"/>
            <a:ext cx="237404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 incidents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882733" y="4907260"/>
            <a:ext cx="2647487" cy="696615"/>
          </a:xfrm>
          <a:prstGeom prst="roundRect">
            <a:avLst>
              <a:gd name="adj" fmla="val 16026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19453" y="5043984"/>
            <a:ext cx="237404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04 Score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019453" y="5293519"/>
            <a:ext cx="237404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prioritisation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61475" y="5696843"/>
            <a:ext cx="2647388" cy="696615"/>
          </a:xfrm>
          <a:prstGeom prst="roundRect">
            <a:avLst>
              <a:gd name="adj" fmla="val 16026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8195" y="5833566"/>
            <a:ext cx="237394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05 Filter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98195" y="6083102"/>
            <a:ext cx="237394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False positive detection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401828" y="5696843"/>
            <a:ext cx="2647487" cy="696615"/>
          </a:xfrm>
          <a:prstGeom prst="roundRect">
            <a:avLst>
              <a:gd name="adj" fmla="val 16026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538548" y="5833566"/>
            <a:ext cx="237404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06 Map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538548" y="6083102"/>
            <a:ext cx="237404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MITRE ATT&amp;CK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142281" y="5696843"/>
            <a:ext cx="2647487" cy="696615"/>
          </a:xfrm>
          <a:prstGeom prst="roundRect">
            <a:avLst>
              <a:gd name="adj" fmla="val 16026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79001" y="5833566"/>
            <a:ext cx="237404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07 BLUF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279001" y="6083102"/>
            <a:ext cx="237404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Analyst summaries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882733" y="5696843"/>
            <a:ext cx="2647487" cy="696615"/>
          </a:xfrm>
          <a:prstGeom prst="roundRect">
            <a:avLst>
              <a:gd name="adj" fmla="val 16026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19453" y="5833566"/>
            <a:ext cx="237404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08 Display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019453" y="6083102"/>
            <a:ext cx="237404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Unified dashboard</a:t>
            </a:r>
            <a:endParaRPr lang="en-US" sz="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A7ECED2-A3A9-82C9-0B74-E3E9D8C59393}"/>
              </a:ext>
            </a:extLst>
          </p:cNvPr>
          <p:cNvSpPr/>
          <p:nvPr/>
        </p:nvSpPr>
        <p:spPr>
          <a:xfrm>
            <a:off x="11098412" y="6502400"/>
            <a:ext cx="1092200" cy="355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6788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Turning Individual Alerts into Meaningful Incidents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22673"/>
            <a:ext cx="5262927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Instead of treating every alert independently, ThreatIntel Correlator groups related alerts into correlated incidents — giving analysts the full picture rather than disconnected fragments.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81200"/>
            <a:ext cx="351424" cy="3514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481957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Connect Related Activity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61475" y="2820988"/>
            <a:ext cx="5262927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Alerts from the same source IP, target, or timeframe are automatically grouped into a single coherent incident.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476030"/>
            <a:ext cx="351424" cy="3514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3976787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Reduce Complexity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61475" y="4315817"/>
            <a:ext cx="5262927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consolidated incident replaces 5–10 disconnected alert notifications, dramatically cutting triage time.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970859"/>
            <a:ext cx="351424" cy="3514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5471616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Accelerate Investigation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61475" y="5810647"/>
            <a:ext cx="5262927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Analysts understand the full scope and impact of an attack in seconds, not hours of manual correlation.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273643" y="1234678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Live Correlation View</a:t>
            </a:r>
            <a:endParaRPr lang="en-US" sz="13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3643" y="1588591"/>
            <a:ext cx="4473463" cy="232211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AFAC3D3-4209-5004-B2EF-D7B4AED38991}"/>
              </a:ext>
            </a:extLst>
          </p:cNvPr>
          <p:cNvSpPr/>
          <p:nvPr/>
        </p:nvSpPr>
        <p:spPr>
          <a:xfrm>
            <a:off x="11098412" y="6502400"/>
            <a:ext cx="1092200" cy="355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063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Which Threat Requires Attention First?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54832"/>
            <a:ext cx="4727457" cy="241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3763" y="1324670"/>
            <a:ext cx="5252807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ThreatIntel Correlator assigns risk scores to every correlated incident, enabling analysts to immediately identify what demands urgent attention versus what can wait.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283763" y="2154039"/>
            <a:ext cx="2559383" cy="1594346"/>
          </a:xfrm>
          <a:prstGeom prst="roundRect">
            <a:avLst>
              <a:gd name="adj" fmla="val 8403"/>
            </a:avLst>
          </a:prstGeom>
          <a:solidFill>
            <a:srgbClr val="030303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45287" y="2315567"/>
            <a:ext cx="223633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HIGH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445287" y="2681982"/>
            <a:ext cx="223633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Immediate investigation required. Correlated indicators suggest active compromise or imminent threat.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977088" y="2154039"/>
            <a:ext cx="2559482" cy="1594346"/>
          </a:xfrm>
          <a:prstGeom prst="roundRect">
            <a:avLst>
              <a:gd name="adj" fmla="val 8403"/>
            </a:avLst>
          </a:prstGeom>
          <a:solidFill>
            <a:srgbClr val="030303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38612" y="2315567"/>
            <a:ext cx="223643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MEDIUM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138612" y="2681982"/>
            <a:ext cx="2236434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and investigate within hours. Suspicious behavior warrants analyst attention but is not yet critical.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83763" y="3882330"/>
            <a:ext cx="5252807" cy="1141909"/>
          </a:xfrm>
          <a:prstGeom prst="roundRect">
            <a:avLst>
              <a:gd name="adj" fmla="val 11732"/>
            </a:avLst>
          </a:prstGeom>
          <a:solidFill>
            <a:srgbClr val="030303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5287" y="4043859"/>
            <a:ext cx="492975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LOW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45287" y="4410273"/>
            <a:ext cx="4929759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Background monitoring. Lower-priority signals logged for pattern analysis and future correlation.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83763" y="5174952"/>
            <a:ext cx="5252807" cy="994172"/>
          </a:xfrm>
          <a:prstGeom prst="roundRect">
            <a:avLst>
              <a:gd name="adj" fmla="val 13475"/>
            </a:avLst>
          </a:prstGeom>
          <a:solidFill>
            <a:srgbClr val="7E3202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588" y="5374580"/>
            <a:ext cx="186031" cy="1488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67442" y="5332710"/>
            <a:ext cx="4620303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scores are calculated from threat characteristics, behavioral indicators, and contextual signals — enabling systematic prioritisation instead of guesswork.</a:t>
            </a:r>
            <a:endParaRPr lang="en-US" sz="11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8A948D-BA67-25A2-B943-6086DA497B9C}"/>
              </a:ext>
            </a:extLst>
          </p:cNvPr>
          <p:cNvSpPr/>
          <p:nvPr/>
        </p:nvSpPr>
        <p:spPr>
          <a:xfrm>
            <a:off x="11098412" y="6502400"/>
            <a:ext cx="1092200" cy="355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9068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Reducing Alert Fatigue Through False Positive Detection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488182"/>
            <a:ext cx="5242687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False positive detection filters out benign or low-confidence alerts, allowing analysts to focus exclusively on genuine threats that warrant investigation.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2146399"/>
            <a:ext cx="353508" cy="353516"/>
          </a:xfrm>
          <a:prstGeom prst="roundRect">
            <a:avLst>
              <a:gd name="adj" fmla="val 40002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4204" y="2200374"/>
            <a:ext cx="473995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Identify Likely Benign Alerts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64204" y="2595166"/>
            <a:ext cx="4739958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Alerts that match historical patterns of known-safe activity are flagged automatically, removing them from the active investigation queue.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1475" y="3629124"/>
            <a:ext cx="353508" cy="353516"/>
          </a:xfrm>
          <a:prstGeom prst="roundRect">
            <a:avLst>
              <a:gd name="adj" fmla="val 40002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4204" y="3683099"/>
            <a:ext cx="473995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Flag Low-Confidence Detections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64204" y="4077891"/>
            <a:ext cx="4739958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Detections below the confidence threshold are marked as probable noise rather than silently dismissed, preserving analyst oversight.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1475" y="4866680"/>
            <a:ext cx="353508" cy="353516"/>
          </a:xfrm>
          <a:prstGeom prst="roundRect">
            <a:avLst>
              <a:gd name="adj" fmla="val 40002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4204" y="4920655"/>
            <a:ext cx="473995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Improve Signal-to-Noise Ratio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64204" y="5315446"/>
            <a:ext cx="4739958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systematically reducing non-actionable alerts, the dashboard surfaces only what genuinely requires analyst attention across the entire security operation.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93883" y="1503065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False Positive Analysis in Action</a:t>
            </a:r>
            <a:endParaRPr lang="en-US" sz="15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840" y="1792387"/>
            <a:ext cx="4980458" cy="253067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103486E-F201-6E17-B2FC-025BF5A77B92}"/>
              </a:ext>
            </a:extLst>
          </p:cNvPr>
          <p:cNvSpPr/>
          <p:nvPr/>
        </p:nvSpPr>
        <p:spPr>
          <a:xfrm>
            <a:off x="11098412" y="6502400"/>
            <a:ext cx="1092200" cy="355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1154"/>
            <a:ext cx="10868745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Connecting Alerts to Attacker Behaviour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61475" y="1283494"/>
            <a:ext cx="525568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MITRE ATT&amp;CK Mapping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58342"/>
            <a:ext cx="4730036" cy="24569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80886" y="1270496"/>
            <a:ext cx="5255684" cy="44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ThreatIntel Correlator maps observed alerts to MITRE ATT&amp;CK techniques, giving analysts behavioral context rather than just raw indicators.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0886" y="1858566"/>
            <a:ext cx="2562955" cy="1996777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2432" y="1981101"/>
            <a:ext cx="219764" cy="2197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46379" y="2446933"/>
            <a:ext cx="2231969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Behavioral Context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6446379" y="2805609"/>
            <a:ext cx="2231969" cy="884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</a:t>
            </a:r>
            <a:r>
              <a:rPr lang="en-US" sz="11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what the attacker is trying to achieve</a:t>
            </a: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not just that an alert fired, but what tactic it represents.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73615" y="1858566"/>
            <a:ext cx="2562955" cy="1996777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45161" y="1981101"/>
            <a:ext cx="219764" cy="21977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139108" y="2446933"/>
            <a:ext cx="2231969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Tactic Classification</a:t>
            </a:r>
            <a:endParaRPr lang="en-US" sz="1400" dirty="0"/>
          </a:p>
        </p:txBody>
      </p:sp>
      <p:sp>
        <p:nvSpPr>
          <p:cNvPr id="13" name="Text 6"/>
          <p:cNvSpPr/>
          <p:nvPr/>
        </p:nvSpPr>
        <p:spPr>
          <a:xfrm>
            <a:off x="9139108" y="2805609"/>
            <a:ext cx="2231969" cy="884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reconnaissance, lateral movement, persistence, privilege escalation, and exfiltration from alert patterns.</a:t>
            </a:r>
            <a:endParaRPr lang="en-US" sz="11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0886" y="3985121"/>
            <a:ext cx="2562955" cy="222567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2432" y="4107656"/>
            <a:ext cx="219764" cy="21977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446379" y="4573488"/>
            <a:ext cx="2231969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Threat Intelligence Context</a:t>
            </a:r>
            <a:endParaRPr lang="en-US" sz="1400" dirty="0"/>
          </a:p>
        </p:txBody>
      </p:sp>
      <p:sp>
        <p:nvSpPr>
          <p:cNvPr id="17" name="Text 8"/>
          <p:cNvSpPr/>
          <p:nvPr/>
        </p:nvSpPr>
        <p:spPr>
          <a:xfrm>
            <a:off x="6446379" y="5161062"/>
            <a:ext cx="2231969" cy="884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observed techniques against known attack patterns and threat campaigns documented in MITRE ATT&amp;CK.</a:t>
            </a:r>
            <a:endParaRPr lang="en-US" sz="115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73615" y="3985121"/>
            <a:ext cx="2562955" cy="2225675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45161" y="4107656"/>
            <a:ext cx="219764" cy="21977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9139108" y="4573488"/>
            <a:ext cx="2231969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Investigation Guidance</a:t>
            </a:r>
            <a:endParaRPr lang="en-US" sz="1400" dirty="0"/>
          </a:p>
        </p:txBody>
      </p:sp>
      <p:sp>
        <p:nvSpPr>
          <p:cNvPr id="21" name="Text 10"/>
          <p:cNvSpPr/>
          <p:nvPr/>
        </p:nvSpPr>
        <p:spPr>
          <a:xfrm>
            <a:off x="9139108" y="4932164"/>
            <a:ext cx="2231969" cy="884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Know what to look for next — each mapped technique suggests the likely next steps an attacker might take.</a:t>
            </a:r>
            <a:endParaRPr lang="en-US" sz="11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F43E5E-BF8F-874E-DB78-F9CCF0D5B918}"/>
              </a:ext>
            </a:extLst>
          </p:cNvPr>
          <p:cNvSpPr/>
          <p:nvPr/>
        </p:nvSpPr>
        <p:spPr>
          <a:xfrm>
            <a:off x="11098412" y="6502400"/>
            <a:ext cx="1092200" cy="355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2908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From Technical Alerts to Actionable Intelligence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1475" y="1414165"/>
            <a:ext cx="1813078" cy="201116"/>
          </a:xfrm>
          <a:prstGeom prst="roundRect">
            <a:avLst>
              <a:gd name="adj" fmla="val 47368"/>
            </a:avLst>
          </a:prstGeom>
          <a:solidFill>
            <a:srgbClr val="4B1E0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48" y="1461790"/>
            <a:ext cx="105765" cy="1057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9495" y="1453852"/>
            <a:ext cx="2105270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BLUF: BOTTOM LINE UP FRONT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61475" y="1734344"/>
            <a:ext cx="527304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ThreatIntel Correlator generates concise BLUF summaries that distill correlated incident data into structured, analyst-ready intelligence — replacing raw alert dumps with clear, decision-ready context.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61475" y="2424906"/>
            <a:ext cx="2583592" cy="1364357"/>
          </a:xfrm>
          <a:prstGeom prst="roundRect">
            <a:avLst>
              <a:gd name="adj" fmla="val 8728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6430" y="2569865"/>
            <a:ext cx="229368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 Happened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6430" y="2882305"/>
            <a:ext cx="229368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observed activity and associated indicators of compromise, presented in plain language.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50831" y="2424906"/>
            <a:ext cx="2583691" cy="1364357"/>
          </a:xfrm>
          <a:prstGeom prst="roundRect">
            <a:avLst>
              <a:gd name="adj" fmla="val 8728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95786" y="2569865"/>
            <a:ext cx="229378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95786" y="2882305"/>
            <a:ext cx="229378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Threat context, potential impact, and business risk — connecting the technical signal to operational consequences.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61475" y="3895030"/>
            <a:ext cx="2583592" cy="1173857"/>
          </a:xfrm>
          <a:prstGeom prst="roundRect">
            <a:avLst>
              <a:gd name="adj" fmla="val 10144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6430" y="4039989"/>
            <a:ext cx="229368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How Serious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6430" y="4352429"/>
            <a:ext cx="229368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level and urgency classification drawn directly from the correlation engine's scoring output.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50831" y="3895030"/>
            <a:ext cx="2583691" cy="1173857"/>
          </a:xfrm>
          <a:prstGeom prst="roundRect">
            <a:avLst>
              <a:gd name="adj" fmla="val 10144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95786" y="4039989"/>
            <a:ext cx="229378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495786" y="4352429"/>
            <a:ext cx="229378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Recommended investigation steps based on the mapped MITRE ATT&amp;CK technique and incident context.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61475" y="5187950"/>
            <a:ext cx="5273047" cy="828080"/>
          </a:xfrm>
          <a:prstGeom prst="roundRect">
            <a:avLst>
              <a:gd name="adj" fmla="val 14380"/>
            </a:avLst>
          </a:prstGeom>
          <a:solidFill>
            <a:srgbClr val="7E3202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30" y="5350669"/>
            <a:ext cx="165294" cy="132259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91280" y="5316240"/>
            <a:ext cx="471098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BLUF summaries are generated through the system's analysis pipeline — providing structured intelligence from correlated incident data, not raw alert output.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263523" y="1400870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BLUF Output — Live Prototype</a:t>
            </a:r>
            <a:endParaRPr lang="en-US" sz="13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D96A72-F01F-EC53-5EB9-7DA4C33300D6}"/>
              </a:ext>
            </a:extLst>
          </p:cNvPr>
          <p:cNvSpPr/>
          <p:nvPr/>
        </p:nvSpPr>
        <p:spPr>
          <a:xfrm>
            <a:off x="11098412" y="6502400"/>
            <a:ext cx="1092200" cy="355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6B69BB2-D8A2-A15D-4778-BE778F00BA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0286" y="1929927"/>
            <a:ext cx="5273047" cy="26577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889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Technology Behind the Solution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6631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pragmatic, production-ready stack designed for rapid development, scalability, and easy integration with existing security tooling.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16969"/>
            <a:ext cx="413434" cy="4134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1577" y="2416969"/>
            <a:ext cx="47108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Python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81577" y="2774652"/>
            <a:ext cx="471088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processing and analysis logic — orchestrates the full pipeline from ingestion through BLUF generation.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132" y="2416969"/>
            <a:ext cx="413434" cy="4134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19233" y="2416969"/>
            <a:ext cx="4710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Flask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819233" y="2774652"/>
            <a:ext cx="471098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application framework powering the analyst dashboard interface and REST API endpoints.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634581"/>
            <a:ext cx="413434" cy="4134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1577" y="3634581"/>
            <a:ext cx="47108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SQLite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281577" y="3992265"/>
            <a:ext cx="471088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Lightweight relational storage for alert data, incident records, correlation results, and historical patterns.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9132" y="3634581"/>
            <a:ext cx="413434" cy="4134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19233" y="3634581"/>
            <a:ext cx="4710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Pandas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819233" y="3992265"/>
            <a:ext cx="471098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manipulation and correlation analysis — handles normalization, grouping, and behavioral pattern detection.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852194"/>
            <a:ext cx="413434" cy="41344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81577" y="4852194"/>
            <a:ext cx="47108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Chart.js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1281577" y="5209877"/>
            <a:ext cx="471088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visualization and metrics rendering within the dashboard for live incident monitoring.</a:t>
            </a:r>
            <a:endParaRPr lang="en-US" sz="13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9132" y="4852194"/>
            <a:ext cx="413434" cy="41344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819233" y="4852194"/>
            <a:ext cx="4710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IBM BoB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6819233" y="5209877"/>
            <a:ext cx="471098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Hackathon platform and infrastructure — providing the foundation and compute environment for this prototype.</a:t>
            </a:r>
            <a:endParaRPr lang="en-US" sz="13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891868-BBFE-7129-4E5F-5038D783D6DF}"/>
              </a:ext>
            </a:extLst>
          </p:cNvPr>
          <p:cNvSpPr/>
          <p:nvPr/>
        </p:nvSpPr>
        <p:spPr>
          <a:xfrm>
            <a:off x="11098412" y="6502400"/>
            <a:ext cx="1092200" cy="355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6064"/>
            <a:ext cx="10868745" cy="499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100" dirty="0">
                <a:solidFill>
                  <a:srgbClr val="00D9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ThreatIntel Correlator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356682" y="1237357"/>
            <a:ext cx="114783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working prototype that transforms alert overload into analyst-ready intelligence.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61475" y="1514773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728391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 We Demonstrated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1475" y="2000349"/>
            <a:ext cx="2314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61475" y="2184301"/>
            <a:ext cx="5293188" cy="1270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2267545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Alert Correlation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1475" y="2529384"/>
            <a:ext cx="529318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Related events grouped into coherent incidents, not disconnected noise.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1475" y="2854623"/>
            <a:ext cx="2314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61475" y="3038574"/>
            <a:ext cx="5293188" cy="1270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3121819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Risk Prioritisation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1475" y="3383657"/>
            <a:ext cx="529318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/ MEDIUM / LOW scoring that tells analysts exactly where to look first.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1475" y="3708896"/>
            <a:ext cx="2314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1475" y="3892848"/>
            <a:ext cx="5293188" cy="1270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6" name="Text 14"/>
          <p:cNvSpPr/>
          <p:nvPr/>
        </p:nvSpPr>
        <p:spPr>
          <a:xfrm>
            <a:off x="661475" y="3976092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False Positive Filtering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1475" y="4237930"/>
            <a:ext cx="529318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Systematic noise reduction to protect analyst focus and reduce fatigue.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1475" y="4563170"/>
            <a:ext cx="2314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1475" y="4747121"/>
            <a:ext cx="5293188" cy="1270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20" name="Text 18"/>
          <p:cNvSpPr/>
          <p:nvPr/>
        </p:nvSpPr>
        <p:spPr>
          <a:xfrm>
            <a:off x="661475" y="4830366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MITRE ATT&amp;CK Mapping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1475" y="5092204"/>
            <a:ext cx="529318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Behavioral context that connects raw alerts to attacker tactics and strategy.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1475" y="5417443"/>
            <a:ext cx="2314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1475" y="5601395"/>
            <a:ext cx="5293188" cy="1270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24" name="Text 22"/>
          <p:cNvSpPr/>
          <p:nvPr/>
        </p:nvSpPr>
        <p:spPr>
          <a:xfrm>
            <a:off x="661475" y="5684639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BLUF Intelligence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1475" y="5946477"/>
            <a:ext cx="529318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analyst summaries — what happened, why it matters, what's next.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43382" y="1738511"/>
            <a:ext cx="5293188" cy="518517"/>
          </a:xfrm>
          <a:prstGeom prst="roundRect">
            <a:avLst>
              <a:gd name="adj" fmla="val 20095"/>
            </a:avLst>
          </a:prstGeom>
          <a:solidFill>
            <a:srgbClr val="7E3202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068" y="1861344"/>
            <a:ext cx="144657" cy="115689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619412" y="1840309"/>
            <a:ext cx="480147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Core Value:</a:t>
            </a: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ThreatIntel Correlator doesn't just surface alerts — it delivers the </a:t>
            </a:r>
            <a:r>
              <a:rPr lang="en-US" sz="900" dirty="0">
                <a:solidFill>
                  <a:srgbClr val="00D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context, correlation, and clarity</a:t>
            </a: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analysts need to act with confidence and speed.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243382" y="2348111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Team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43382" y="2620070"/>
            <a:ext cx="2606114" cy="437654"/>
          </a:xfrm>
          <a:prstGeom prst="roundRect">
            <a:avLst>
              <a:gd name="adj" fmla="val 23808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71768" y="2748459"/>
            <a:ext cx="234934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Arya Raval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930456" y="2620070"/>
            <a:ext cx="2606114" cy="437654"/>
          </a:xfrm>
          <a:prstGeom prst="roundRect">
            <a:avLst>
              <a:gd name="adj" fmla="val 23808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058842" y="2748459"/>
            <a:ext cx="234934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Rudra Tanti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243382" y="3138686"/>
            <a:ext cx="2606114" cy="437654"/>
          </a:xfrm>
          <a:prstGeom prst="roundRect">
            <a:avLst>
              <a:gd name="adj" fmla="val 23808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71768" y="3267075"/>
            <a:ext cx="234934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Arav Patel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930456" y="3138686"/>
            <a:ext cx="2606114" cy="437654"/>
          </a:xfrm>
          <a:prstGeom prst="roundRect">
            <a:avLst>
              <a:gd name="adj" fmla="val 23808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058842" y="3267075"/>
            <a:ext cx="234934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Salman Meman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938590" y="3667423"/>
            <a:ext cx="5902773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IBM BoB AI Innovation Hackathon 2026</a:t>
            </a: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</a:t>
            </a:r>
            <a:r>
              <a:rPr lang="en-US" sz="90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 Yad nahi</a:t>
            </a:r>
            <a:endParaRPr lang="en-US" sz="9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0F1A1BA-E8EE-7EE7-8421-7B7C04694B7A}"/>
              </a:ext>
            </a:extLst>
          </p:cNvPr>
          <p:cNvSpPr/>
          <p:nvPr/>
        </p:nvSpPr>
        <p:spPr>
          <a:xfrm>
            <a:off x="11098412" y="6502400"/>
            <a:ext cx="1092200" cy="355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1155</Words>
  <Application>Microsoft Office PowerPoint</Application>
  <PresentationFormat>Widescreen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Saira Light</vt:lpstr>
      <vt:lpstr>Roboto Bold</vt:lpstr>
      <vt:lpstr>Arial</vt:lpstr>
      <vt:lpstr>Saira Medium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lastModifiedBy>Arya Raval</cp:lastModifiedBy>
  <cp:revision>2</cp:revision>
  <dcterms:created xsi:type="dcterms:W3CDTF">2026-09-15T15:50:29Z</dcterms:created>
  <dcterms:modified xsi:type="dcterms:W3CDTF">2026-09-15T16:01:01Z</dcterms:modified>
</cp:coreProperties>
</file>